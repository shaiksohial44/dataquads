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06EFF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91440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LIVE FACT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152704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D3FF"/>
                </a:solidFill>
                <a:latin typeface="Aptos"/>
              </a:rPr>
              <a:t>Real-Time AI Detection of Claims &amp; Misinformation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088" y="205740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AAB4C6"/>
                </a:solidFill>
                <a:latin typeface="Aptos"/>
              </a:rPr>
              <a:t>A Chrome side-panel extension that captures spoken content, identifies factual claims, and verifies them with AI-supported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2331720" cy="1078992"/>
          </a:xfrm>
          <a:prstGeom prst="roundRect">
            <a:avLst/>
          </a:prstGeom>
          <a:solidFill>
            <a:srgbClr val="161E30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4041648"/>
            <a:ext cx="914400" cy="347472"/>
          </a:xfrm>
          <a:prstGeom prst="roundRect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0827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43984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YouTube / Tab Audio / 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AAB4C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886200"/>
            <a:ext cx="2331720" cy="1078992"/>
          </a:xfrm>
          <a:prstGeom prst="roundRect">
            <a:avLst/>
          </a:prstGeom>
          <a:solidFill>
            <a:srgbClr val="161E30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67911" y="4041648"/>
            <a:ext cx="914400" cy="347472"/>
          </a:xfrm>
          <a:prstGeom prst="roundRect">
            <a:avLst/>
          </a:prstGeom>
          <a:solidFill>
            <a:srgbClr val="A06EFF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1" y="40827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TRANSCRIBE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1" y="4443984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Captions / Whisper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AAB4C6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886200"/>
            <a:ext cx="2331720" cy="1078992"/>
          </a:xfrm>
          <a:prstGeom prst="roundRect">
            <a:avLst/>
          </a:prstGeom>
          <a:solidFill>
            <a:srgbClr val="161E30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56831" y="4041648"/>
            <a:ext cx="914400" cy="347472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1" y="40827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4443984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Gemini claim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AAB4C6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59" y="3886200"/>
            <a:ext cx="2331720" cy="1078992"/>
          </a:xfrm>
          <a:prstGeom prst="roundRect">
            <a:avLst/>
          </a:prstGeom>
          <a:solidFill>
            <a:srgbClr val="161E30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45751" y="4041648"/>
            <a:ext cx="914400" cy="347472"/>
          </a:xfrm>
          <a:prstGeom prst="roundRect">
            <a:avLst/>
          </a:prstGeom>
          <a:solidFill>
            <a:srgbClr val="46DC96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1" y="40827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1" y="4443984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Verdict + sources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715000"/>
            <a:ext cx="1600200" cy="347472"/>
          </a:xfrm>
          <a:prstGeom prst="roundRect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7561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Chrome Extension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7168" y="5715000"/>
            <a:ext cx="1234440" cy="347472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575614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Gemini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5715000"/>
            <a:ext cx="1234440" cy="347472"/>
          </a:xfrm>
          <a:prstGeom prst="roundRect">
            <a:avLst/>
          </a:prstGeom>
          <a:solidFill>
            <a:srgbClr val="A06EFF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575614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Whisper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85232" y="5715000"/>
            <a:ext cx="1691640" cy="347472"/>
          </a:xfrm>
          <a:prstGeom prst="roundRect">
            <a:avLst/>
          </a:prstGeom>
          <a:solidFill>
            <a:srgbClr val="46DC96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5232" y="57561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Fact-Check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4C6"/>
                </a:solidFill>
                <a:latin typeface="Aptos"/>
              </a:rPr>
              <a:t>LIVE FACT CHECKER • AI-BASED MISINFORMATION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AB4C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4C6"/>
                </a:solidFill>
                <a:latin typeface="Aptos"/>
              </a:rPr>
              <a:t>Three-stage pipeline from live speech to verified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6537960" cy="932688"/>
          </a:xfrm>
          <a:prstGeom prst="roundRect">
            <a:avLst/>
          </a:prstGeom>
          <a:solidFill>
            <a:srgbClr val="161E30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" cy="347472"/>
          </a:xfrm>
          <a:prstGeom prst="roundRect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42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5506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476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4C6"/>
                </a:solidFill>
                <a:latin typeface="Aptos"/>
              </a:rPr>
              <a:t>YouTube captions, tab audio, or microphone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33472"/>
            <a:ext cx="6537960" cy="932688"/>
          </a:xfrm>
          <a:prstGeom prst="roundRect">
            <a:avLst/>
          </a:prstGeom>
          <a:solidFill>
            <a:srgbClr val="161E30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907791"/>
            <a:ext cx="502920" cy="347472"/>
          </a:xfrm>
          <a:prstGeom prst="roundRect">
            <a:avLst/>
          </a:prstGeom>
          <a:solidFill>
            <a:srgbClr val="A06EFF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48939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797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Transcribe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7238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4C6"/>
                </a:solidFill>
                <a:latin typeface="Aptos"/>
              </a:rPr>
              <a:t>Caption text is cleaned; Whisper can transcribe tab audio locally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58183"/>
            <a:ext cx="6537960" cy="932688"/>
          </a:xfrm>
          <a:prstGeom prst="roundRect">
            <a:avLst/>
          </a:prstGeom>
          <a:solidFill>
            <a:srgbClr val="161E30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032503"/>
            <a:ext cx="502920" cy="347472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73651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0448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Detect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970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4C6"/>
                </a:solidFill>
                <a:latin typeface="Aptos"/>
              </a:rPr>
              <a:t>Gemini identifies checkable factual statements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82896"/>
            <a:ext cx="6537960" cy="932688"/>
          </a:xfrm>
          <a:prstGeom prst="roundRect">
            <a:avLst/>
          </a:prstGeom>
          <a:solidFill>
            <a:srgbClr val="161E30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5157216"/>
            <a:ext cx="502920" cy="347472"/>
          </a:xfrm>
          <a:prstGeom prst="roundRect">
            <a:avLst/>
          </a:prstGeom>
          <a:solidFill>
            <a:srgbClr val="46DC96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9836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029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3218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4C6"/>
                </a:solidFill>
                <a:latin typeface="Aptos"/>
              </a:rPr>
              <a:t>Claims are checked sequentially and shown as TRUE / FALSE / UNCERTAIN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508760"/>
            <a:ext cx="3977639" cy="4709160"/>
          </a:xfrm>
          <a:prstGeom prst="roundRect">
            <a:avLst/>
          </a:prstGeom>
          <a:solidFill>
            <a:srgbClr val="121929"/>
          </a:solidFill>
          <a:ln>
            <a:solidFill>
              <a:srgbClr val="32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1783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FACT-CHECK PANEL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40" y="1737360"/>
            <a:ext cx="822960" cy="347472"/>
          </a:xfrm>
          <a:prstGeom prst="roundRect">
            <a:avLst/>
          </a:prstGeom>
          <a:solidFill>
            <a:srgbClr val="46DC96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177850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●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331720"/>
            <a:ext cx="822960" cy="777240"/>
          </a:xfrm>
          <a:prstGeom prst="roundRect">
            <a:avLst/>
          </a:prstGeom>
          <a:solidFill>
            <a:srgbClr val="161E30"/>
          </a:solidFill>
          <a:ln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423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4D3FF"/>
                </a:solidFill>
                <a:latin typeface="Aptos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72491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B4C6"/>
                </a:solidFill>
                <a:latin typeface="Aptos"/>
              </a:rPr>
              <a:t>claims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331720"/>
            <a:ext cx="822960" cy="777240"/>
          </a:xfrm>
          <a:prstGeom prst="roundRect">
            <a:avLst/>
          </a:prstGeom>
          <a:solidFill>
            <a:srgbClr val="161E30"/>
          </a:solidFill>
          <a:ln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423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6DC96"/>
                </a:solidFill>
                <a:latin typeface="Aptos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272491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B4C6"/>
                </a:solidFill>
                <a:latin typeface="Aptos"/>
              </a:rPr>
              <a:t>true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48672" y="2331720"/>
            <a:ext cx="822960" cy="777240"/>
          </a:xfrm>
          <a:prstGeom prst="roundRect">
            <a:avLst/>
          </a:prstGeom>
          <a:solidFill>
            <a:srgbClr val="161E30"/>
          </a:solidFill>
          <a:ln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48672" y="2423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5C6E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272491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B4C6"/>
                </a:solidFill>
                <a:latin typeface="Aptos"/>
              </a:rPr>
              <a:t>false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35640" y="2331720"/>
            <a:ext cx="822960" cy="777240"/>
          </a:xfrm>
          <a:prstGeom prst="roundRect">
            <a:avLst/>
          </a:prstGeom>
          <a:solidFill>
            <a:srgbClr val="161E30"/>
          </a:solidFill>
          <a:ln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35640" y="2423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C74D"/>
                </a:solidFill>
                <a:latin typeface="Apto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272491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B4C6"/>
                </a:solidFill>
                <a:latin typeface="Aptos"/>
              </a:rPr>
              <a:t>unclear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3429000"/>
            <a:ext cx="3401568" cy="621792"/>
          </a:xfrm>
          <a:prstGeom prst="roundRect">
            <a:avLst/>
          </a:prstGeom>
          <a:solidFill>
            <a:srgbClr val="161E30"/>
          </a:solidFill>
          <a:ln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73568" y="3575304"/>
            <a:ext cx="841248" cy="347472"/>
          </a:xfrm>
          <a:prstGeom prst="roundRect">
            <a:avLst/>
          </a:prstGeom>
          <a:solidFill>
            <a:srgbClr val="46DC96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361645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2832" y="35387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Aptos"/>
              </a:rPr>
              <a:t>Claim verified with supporting evidence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4233672"/>
            <a:ext cx="3401568" cy="621792"/>
          </a:xfrm>
          <a:prstGeom prst="roundRect">
            <a:avLst/>
          </a:prstGeom>
          <a:solidFill>
            <a:srgbClr val="161E30"/>
          </a:solidFill>
          <a:ln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73568" y="4379976"/>
            <a:ext cx="841248" cy="347472"/>
          </a:xfrm>
          <a:prstGeom prst="roundRect">
            <a:avLst/>
          </a:prstGeom>
          <a:solidFill>
            <a:srgbClr val="FF5C6E"/>
          </a:solidFill>
          <a:ln>
            <a:solidFill>
              <a:srgbClr val="FF5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4421124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FALSE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43434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Aptos"/>
              </a:rPr>
              <a:t>Evidence contradicts the claim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18120" y="5038344"/>
            <a:ext cx="3401568" cy="621792"/>
          </a:xfrm>
          <a:prstGeom prst="roundRect">
            <a:avLst/>
          </a:prstGeom>
          <a:solidFill>
            <a:srgbClr val="161E30"/>
          </a:solidFill>
          <a:ln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973568" y="5184648"/>
            <a:ext cx="841248" cy="347472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22579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UNCERTAIN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42832" y="514807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Aptos"/>
              </a:rPr>
              <a:t>Insufficient or ambiguous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5806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4D3FF"/>
                </a:solidFill>
                <a:latin typeface="Aptos"/>
              </a:rPr>
              <a:t>Exportable HTML 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4C6"/>
                </a:solidFill>
                <a:latin typeface="Aptos"/>
              </a:rPr>
              <a:t>LIVE FACT CHECKER • AI-BASED MISINFORMATION DETECTION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AB4C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KEY FEATURES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4C6"/>
                </a:solidFill>
                <a:latin typeface="Aptos"/>
              </a:rPr>
              <a:t>Designed for fast, explainable fact-checking during videos and live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01568" cy="1207008"/>
          </a:xfrm>
          <a:prstGeom prst="roundRect">
            <a:avLst/>
          </a:prstGeom>
          <a:solidFill>
            <a:srgbClr val="161E30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73152" cy="1207008"/>
          </a:xfrm>
          <a:prstGeom prst="rect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D3FF"/>
                </a:solidFill>
                <a:latin typeface="Aptos"/>
              </a:rPr>
              <a:t>REAL-TIME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12264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Claims can be analyzed continuously while content is playing.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401568" cy="1207008"/>
          </a:xfrm>
          <a:prstGeom prst="roundRect">
            <a:avLst/>
          </a:prstGeom>
          <a:solidFill>
            <a:srgbClr val="161E30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00200"/>
            <a:ext cx="73152" cy="1207008"/>
          </a:xfrm>
          <a:prstGeom prst="rect">
            <a:avLst/>
          </a:prstGeom>
          <a:solidFill>
            <a:srgbClr val="A06EFF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06EFF"/>
                </a:solidFill>
                <a:latin typeface="Aptos"/>
              </a:rPr>
              <a:t>MULTIPLE INPUT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12264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YouTube CC • Tab Audio + Whisper • Microphone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00200"/>
            <a:ext cx="3401568" cy="1207008"/>
          </a:xfrm>
          <a:prstGeom prst="roundRect">
            <a:avLst/>
          </a:prstGeom>
          <a:solidFill>
            <a:srgbClr val="161E30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600200"/>
            <a:ext cx="73152" cy="1207008"/>
          </a:xfrm>
          <a:prstGeom prst="rect">
            <a:avLst/>
          </a:prstGeom>
          <a:solidFill>
            <a:srgbClr val="46DC96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7830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6DC96"/>
                </a:solidFill>
                <a:latin typeface="Aptos"/>
              </a:rPr>
              <a:t>EVIDENCE-FOCUSED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12264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Each claim includes a verdict, explanation, confidence and 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3401568" cy="1207008"/>
          </a:xfrm>
          <a:prstGeom prst="roundRect">
            <a:avLst/>
          </a:prstGeom>
          <a:solidFill>
            <a:srgbClr val="161E30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73152" cy="1207008"/>
          </a:xfrm>
          <a:prstGeom prst="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918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74D"/>
                </a:solidFill>
                <a:latin typeface="Aptos"/>
              </a:rPr>
              <a:t>BATCH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Full YouTube transcripts can be processed in two phases: claim detection then verification.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108960"/>
            <a:ext cx="3401568" cy="1207008"/>
          </a:xfrm>
          <a:prstGeom prst="roundRect">
            <a:avLst/>
          </a:prstGeom>
          <a:solidFill>
            <a:srgbClr val="161E30"/>
          </a:solidFill>
          <a:ln>
            <a:solidFill>
              <a:srgbClr val="FF5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108960"/>
            <a:ext cx="73152" cy="1207008"/>
          </a:xfrm>
          <a:prstGeom prst="rect">
            <a:avLst/>
          </a:prstGeom>
          <a:solidFill>
            <a:srgbClr val="FF5C6E"/>
          </a:solidFill>
          <a:ln>
            <a:solidFill>
              <a:srgbClr val="FF5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2918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C6E"/>
                </a:solidFill>
                <a:latin typeface="Aptos"/>
              </a:rPr>
              <a:t>RATE-LIMIT AWARE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621024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Sequential verification and adaptive timing help stay within API limits.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108960"/>
            <a:ext cx="3401568" cy="1207008"/>
          </a:xfrm>
          <a:prstGeom prst="roundRect">
            <a:avLst/>
          </a:prstGeom>
          <a:solidFill>
            <a:srgbClr val="161E30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108960"/>
            <a:ext cx="73152" cy="1207008"/>
          </a:xfrm>
          <a:prstGeom prst="rect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2918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D3FF"/>
                </a:solidFill>
                <a:latin typeface="Aptos"/>
              </a:rPr>
              <a:t>BILINGUAL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621024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English and Spanish interface with configurable check intervals.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773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TECH STACK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230368"/>
            <a:ext cx="1417320" cy="347472"/>
          </a:xfrm>
          <a:prstGeom prst="roundRect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27151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Chrome MV3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40280" y="5230368"/>
            <a:ext cx="1783080" cy="347472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52715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Gemini 2.0 Flash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8808" y="5230368"/>
            <a:ext cx="2057400" cy="347472"/>
          </a:xfrm>
          <a:prstGeom prst="roundRect">
            <a:avLst/>
          </a:prstGeom>
          <a:solidFill>
            <a:srgbClr val="A06EFF"/>
          </a:solidFill>
          <a:ln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8808" y="527151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Whisper / transformers.js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5230368"/>
            <a:ext cx="1920240" cy="347472"/>
          </a:xfrm>
          <a:prstGeom prst="roundRect">
            <a:avLst/>
          </a:prstGeom>
          <a:solidFill>
            <a:srgbClr val="46DC96"/>
          </a:solidFill>
          <a:ln>
            <a:solidFill>
              <a:srgbClr val="46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2715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220"/>
                </a:solidFill>
                <a:latin typeface="Aptos"/>
              </a:rPr>
              <a:t>JavaScript + HTML/CSS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4800600"/>
            <a:ext cx="2834640" cy="914400"/>
          </a:xfrm>
          <a:prstGeom prst="roundRect">
            <a:avLst/>
          </a:prstGeom>
          <a:solidFill>
            <a:srgbClr val="161E30"/>
          </a:solidFill>
          <a:ln>
            <a:solidFill>
              <a:srgbClr val="32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51392" y="496519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AB4C6"/>
                </a:solidFill>
                <a:latin typeface="Aptos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5257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Verdicts + sources +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0807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4C6"/>
                </a:solidFill>
                <a:latin typeface="Aptos"/>
              </a:rPr>
              <a:t>Project goal: help users question online claims before accepting them as facts.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4C6"/>
                </a:solidFill>
                <a:latin typeface="Aptos"/>
              </a:rPr>
              <a:t>LIVE FACT CHECKER • AI-BASED MISINFORMATION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AB4C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